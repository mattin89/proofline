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8ca84432204436" /><Relationship Type="http://schemas.openxmlformats.org/officeDocument/2006/relationships/extended-properties" Target="/docProps/app.xml" Id="R08371c7145734d00" /><Relationship Type="http://schemas.openxmlformats.org/officeDocument/2006/relationships/officeDocument" Target="/ppt/presentation.xml" Id="R10f89412627e43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d5fc9a9dca462a"/>
  </p:sldMasterIdLst>
  <p:notesMasterIdLst>
    <p:notesMasterId xmlns:r="http://schemas.openxmlformats.org/officeDocument/2006/relationships" r:id="Rd029ef21035942e7"/>
  </p:notesMasterIdLst>
  <p:sldIdLst>
    <p:sldId xmlns:r="http://schemas.openxmlformats.org/officeDocument/2006/relationships" id="256" r:id="Rc875b6ce9c704582"/>
    <p:sldId xmlns:r="http://schemas.openxmlformats.org/officeDocument/2006/relationships" id="257" r:id="R8219b4ecefd34387"/>
    <p:sldId xmlns:r="http://schemas.openxmlformats.org/officeDocument/2006/relationships" id="258" r:id="R0a02d797982248fb"/>
    <p:sldId xmlns:r="http://schemas.openxmlformats.org/officeDocument/2006/relationships" id="259" r:id="R82632dde761a40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f2bc0797134f30" /><Relationship Type="http://schemas.openxmlformats.org/officeDocument/2006/relationships/slideMaster" Target="/ppt/slideMasters/slideMaster1.xml" Id="R71d5fc9a9dca462a" /><Relationship Type="http://schemas.openxmlformats.org/officeDocument/2006/relationships/notesMaster" Target="/ppt/notesMasters/notesMaster1.xml" Id="Rd029ef21035942e7" /><Relationship Type="http://schemas.openxmlformats.org/officeDocument/2006/relationships/presProps" Target="/ppt/presProps.xml" Id="R205eb567a12a4390" /><Relationship Type="http://schemas.openxmlformats.org/officeDocument/2006/relationships/viewProps" Target="/ppt/viewProps.xml" Id="Re729ccfd1e724571" /><Relationship Type="http://schemas.openxmlformats.org/officeDocument/2006/relationships/tableStyles" Target="/ppt/tableStyles.xml" Id="R86fa50b49d1d4631" /><Relationship Type="http://schemas.openxmlformats.org/officeDocument/2006/relationships/slide" Target="/ppt/slides/slide1.xml" Id="Rc875b6ce9c704582" /><Relationship Type="http://schemas.openxmlformats.org/officeDocument/2006/relationships/slide" Target="/ppt/slides/slide2.xml" Id="R8219b4ecefd34387" /><Relationship Type="http://schemas.openxmlformats.org/officeDocument/2006/relationships/slide" Target="/ppt/slides/slide3.xml" Id="R0a02d797982248fb" /><Relationship Type="http://schemas.openxmlformats.org/officeDocument/2006/relationships/slide" Target="/ppt/slides/slide4.xml" Id="R82632dde761a40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1f0404c47849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422c0c8a034f69" /><Relationship Type="http://schemas.openxmlformats.org/officeDocument/2006/relationships/notesMaster" Target="/ppt/notesMasters/notesMaster1.xml" Id="Rebaf113b24f743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ac44a2df184844" /><Relationship Type="http://schemas.openxmlformats.org/officeDocument/2006/relationships/notesMaster" Target="/ppt/notesMasters/notesMaster1.xml" Id="R18a3b1f642334f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0a684b8f824f27" /><Relationship Type="http://schemas.openxmlformats.org/officeDocument/2006/relationships/notesMaster" Target="/ppt/notesMasters/notesMaster1.xml" Id="Rbaae7ac343184f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7ece0719f64a79" /><Relationship Type="http://schemas.openxmlformats.org/officeDocument/2006/relationships/notesMaster" Target="/ppt/notesMasters/notesMaster1.xml" Id="R943ff250232a41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track — Proofline now opens on Internet Trends. Investors start with real public signals, then move into cited startup evidence, deterministic scoring, policy review and founder contact.</a:t>
            </a:r>
          </a:p>
          <a:p xmlns:a="http://schemas.openxmlformats.org/drawingml/2006/main">
            <a:r>
              <a:t>Discuss — Live demo: https://proofline-s1cj.onrender.com/. AI assists retrieval; it does not make the investment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track — Six controlled stages keep AI inside an evidence boundary: intake, guard, retrieve, normalize, score and act.</a:t>
            </a:r>
          </a:p>
          <a:p xmlns:a="http://schemas.openxmlformats.org/drawingml/2006/main">
            <a:r>
              <a:t>Discuss — The Node API is loopback-only locally and exact-origin on Render. Provider keys remain server-side; Tavily, Exa, GitHub and official datasets feed a canonical evidence ledger.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track — AI finds and cross-validates trends and startup evidence. Fixed, versioned code applies sixteen criteria across five dimensions.</a:t>
            </a:r>
          </a:p>
          <a:p xmlns:a="http://schemas.openxmlformats.org/drawingml/2006/main">
            <a:r>
              <a:t>Discuss — Coverage, confidence, opposing evidence and contradictions create visible uncertainty. Missing evidence never becomes a negative founder judgment.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track — The live Render demo opens on Internet Trends. The repeatable Emovo case then shows nine real-source records across eight URLs, a 62.1 score, 85.1 percent coverage, plus-or-minus 18 uncertainty, six public contacts and a non-binding one-hundred-thousand-dollar check.</a:t>
            </a:r>
          </a:p>
          <a:p xmlns:a="http://schemas.openxmlformats.org/drawingml/2006/main">
            <a:r>
              <a:t>Discuss — 222 tests pass. Proofline never sends outreach or transfers funds automatically.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fe22f5cda40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5b68f113ce4ac8" /><Relationship Type="http://schemas.openxmlformats.org/officeDocument/2006/relationships/slideLayout" Target="/ppt/slideLayouts/slideLayout1.xml" Id="R7276945e9ba14b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76945e9ba14b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07d8ef879459e" /><Relationship Type="http://schemas.openxmlformats.org/officeDocument/2006/relationships/notesSlide" Target="/ppt/notesSlides/notesSlide1.xml" Id="R793beb24857241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7b338657e48bf" /><Relationship Type="http://schemas.openxmlformats.org/officeDocument/2006/relationships/notesSlide" Target="/ppt/notesSlides/notesSlide2.xml" Id="Rd1c0b0e2d97549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71151aa534634" /><Relationship Type="http://schemas.openxmlformats.org/officeDocument/2006/relationships/notesSlide" Target="/ppt/notesSlides/notesSlide3.xml" Id="R14ecbcb4df2f48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dbb3805fe49b2" /><Relationship Type="http://schemas.openxmlformats.org/officeDocument/2006/relationships/notesSlide" Target="/ppt/notesSlides/notesSlide4.xml" Id="R1c6acec612564e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B356EBD-4F1D-4283-B536-DE9204D5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2395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2400" b="0">
                <a:solidFill>
                  <a:srgbClr val="F6F3EA"/>
                </a:solidFill>
                <a:latin typeface="Georgia"/>
                <a:ea typeface="Georgia"/>
                <a:cs typeface="Georgia"/>
              </a:defRPr>
            </a:pPr>
            <a:r>
              <a:rPr sz="5850" b="1" i="0">
                <a:solidFill>
                  <a:srgbClr val="F6F3EA"/>
                </a:solidFill>
                <a:latin typeface="Georgia"/>
                <a:ea typeface="Georgia"/>
                <a:cs typeface="Georgia"/>
              </a:rPr>
              <a:t>Proofline</a:t>
            </a:r>
          </a:p>
          <a:p xmlns:a="http://schemas.openxmlformats.org/drawingml/2006/main">
            <a:pPr algn="l">
              <a:spcAft>
                <a:spcPts val="10"/>
              </a:spcAft>
              <a:buNone/>
              <a:defRPr sz="2400" b="0">
                <a:solidFill>
                  <a:srgbClr val="F6F3EA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F6F3EA"/>
                </a:solidFill>
                <a:latin typeface="Georgia"/>
                <a:ea typeface="Georgia"/>
                <a:cs typeface="Georgia"/>
              </a:rPr>
              <a:t>Internet Trends</a:t>
            </a:r>
            <a:r>
              <a:rPr sz="3225" b="1" i="0">
                <a:solidFill>
                  <a:srgbClr val="F6F3EA"/>
                </a:solidFill>
                <a:latin typeface="Georgia"/>
                <a:ea typeface="Georgia"/>
                <a:cs typeface="Georgia"/>
              </a:rPr>
              <a:t> </a:t>
            </a:r>
            <a:r>
              <a:rPr sz="3225" b="1" i="0">
                <a:solidFill>
                  <a:srgbClr val="D9FF63"/>
                </a:solidFill>
                <a:latin typeface="Georgia"/>
                <a:ea typeface="Georgia"/>
                <a:cs typeface="Georgia"/>
              </a:rPr>
              <a:t>→</a:t>
            </a:r>
            <a:r>
              <a:rPr sz="3225" b="1" i="0">
                <a:solidFill>
                  <a:srgbClr val="F6F3EA"/>
                </a:solidFill>
                <a:latin typeface="Georgia"/>
                <a:ea typeface="Georgia"/>
                <a:cs typeface="Georgia"/>
              </a:rPr>
              <a:t> reviewable decisions.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6F3EA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AEB6B0"/>
                </a:solidFill>
                <a:latin typeface="Georgia"/>
                <a:ea typeface="Georgia"/>
                <a:cs typeface="Georgia"/>
              </a:rPr>
              <a:t>Live public demo: </a:t>
            </a:r>
            <a:r>
              <a:rPr sz="2400" b="1" i="0">
                <a:solidFill>
                  <a:srgbClr val="3D8DFF"/>
                </a:solidFill>
                <a:latin typeface="Georgia"/>
                <a:ea typeface="Georgia"/>
                <a:cs typeface="Georgia"/>
              </a:rPr>
              <a:t>proofline-s1cj.onrender.com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5D7A00F-819B-4752-9D0F-52DF386B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1144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D9FF63"/>
                </a:solidFill>
                <a:latin typeface="Consolas"/>
                <a:ea typeface="Consolas"/>
                <a:cs typeface="Consolas"/>
              </a:rPr>
              <a:t>TAVILY · EXA · GITHUB · OFFICIAL OPEN DATA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Internet Trends first · AI retrieval · cited evidence · fixed score · human-controlled check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0" i="1">
                <a:solidFill>
                  <a:srgbClr val="AEB6B0"/>
                </a:solidFill>
                <a:latin typeface="Arial"/>
                <a:ea typeface="Arial"/>
                <a:cs typeface="Arial"/>
              </a:rPr>
              <a:t>LIVE · https://proofline-s1cj.onrender.com/ · Score ≠ success probability.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C47830F-0E64-4AD6-B844-F3071258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FF63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D9FF63"/>
                </a:solidFill>
                <a:latin typeface="Consolas"/>
                <a:ea typeface="Consolas"/>
                <a:cs typeface="Consolas"/>
              </a:rPr>
              <a:t>REAL-DATA VENTURE INTELLIGENCE</a:t>
            </a:r>
          </a:p>
        </p:txBody>
      </p:sp>
    </p:spTree>
    <p:extLst>
      <p:ext uri="{BB962C8B-B14F-4D97-AF65-F5344CB8AC3E}">
        <p14:creationId xmlns:p14="http://schemas.microsoft.com/office/powerpoint/2010/main" val="818399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2DFCBDC-3252-4D14-939A-2157875F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343650"/>
            <a:ext cx="38957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7B75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F7B75"/>
                </a:solidFill>
                <a:latin typeface="Consolas"/>
                <a:ea typeface="Consolas"/>
                <a:cs typeface="Consolas"/>
              </a:rPr>
              <a:t>ARCHITECTURE  /  02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044B960-6CE4-4482-9CD3-FD4AA3BB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6F3EA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F6F3EA"/>
                </a:solidFill>
                <a:latin typeface="Georgia"/>
                <a:ea typeface="Georgia"/>
                <a:cs typeface="Georgia"/>
              </a:rPr>
              <a:t>Six controlled stages keep AI inside an evidence boundary</a:t>
            </a:r>
          </a:p>
        </p:txBody>
      </p:sp>
      <p:cxnSp>
        <p:nvCxnSpPr>
          <p:cNvPr id="43" name="Google-Shape-2259-p159-4"/>
          <p:cNvCxnSpPr/>
          <p:nvPr/>
        </p:nvCxnSpPr>
        <p:spPr>
          <a:xfrm xmlns:a="http://schemas.openxmlformats.org/drawingml/2006/main">
            <a:off x="390525" y="5429250"/>
            <a:ext cx="114109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D8DFF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C514ED1-2C1E-418B-A24E-189CBE70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62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63"/>
          </a:solidFill>
          <a:ln xmlns:a="http://schemas.openxmlformats.org/drawingml/2006/main" w="9525">
            <a:solidFill>
              <a:srgbClr val="D9FF63"/>
            </a:solidFill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FA20B0C-8AFC-450F-92A1-22041897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62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4C2"/>
          </a:solidFill>
          <a:ln xmlns:a="http://schemas.openxmlformats.org/drawingml/2006/main" w="9525">
            <a:solidFill>
              <a:srgbClr val="45D4C2"/>
            </a:solidFill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A89440A-8581-4BFD-AEC1-3C082052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62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37052F45-0EB3-4C1D-8CAC-F52385A1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66850"/>
            <a:ext cx="3562350" cy="36576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1B2A23"/>
          </a:solidFill>
          <a:ln xmlns:a="http://schemas.openxmlformats.org/drawingml/2006/main" w="13335">
            <a:solidFill>
              <a:srgbClr val="D9FF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92DEFA15-AD92-4C95-8D6B-EB19367A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62275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6"/>
              </a:spcAft>
              <a:buNone/>
              <a:defRPr sz="12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D9FF63"/>
                </a:solidFill>
                <a:latin typeface="Consolas"/>
                <a:ea typeface="Consolas"/>
                <a:cs typeface="Consolas"/>
              </a:rPr>
              <a:t>01  INTAKE</a:t>
            </a:r>
          </a:p>
          <a:p xmlns:a="http://schemas.openxmlformats.org/drawingml/2006/main">
            <a:pPr>
              <a:spcAft>
                <a:spcPts val="17"/>
              </a:spcAft>
              <a:buNone/>
              <a:defRPr sz="12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Internet Trends first · thesis · startup/founder · public links · authorized plan</a:t>
            </a:r>
          </a:p>
          <a:p xmlns:a="http://schemas.openxmlformats.org/drawingml/2006/main">
            <a:pPr algn="l">
              <a:spcAft>
                <a:spcPts val="6"/>
              </a:spcAft>
              <a:buNone/>
              <a:defRPr sz="12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D9FF63"/>
                </a:solidFill>
                <a:latin typeface="Consolas"/>
                <a:ea typeface="Consolas"/>
                <a:cs typeface="Consolas"/>
              </a:rPr>
              <a:t>02  GUARD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AEB6B0"/>
                </a:solidFill>
                <a:latin typeface="Arial"/>
                <a:ea typeface="Arial"/>
                <a:cs typeface="Arial"/>
              </a:rPr>
              <a:t>Node API · local loopback / exact HTTPS Render origin · server-side keys · bounded plan parsing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9BEB02AD-8736-452E-90FA-1F94E173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62350" cy="36576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182536"/>
          </a:solidFill>
          <a:ln xmlns:a="http://schemas.openxmlformats.org/drawingml/2006/main" w="13335">
            <a:solidFill>
              <a:srgbClr val="45D4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EF52B1AA-9CE3-4DFB-BD1C-349F4E5A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62125"/>
            <a:ext cx="2962275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"/>
              </a:spcAft>
              <a:buNone/>
              <a:defRPr sz="12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45D4C2"/>
                </a:solidFill>
                <a:latin typeface="Consolas"/>
                <a:ea typeface="Consolas"/>
                <a:cs typeface="Consolas"/>
              </a:rPr>
              <a:t>03  RETRIEVE</a:t>
            </a:r>
          </a:p>
          <a:p xmlns:a="http://schemas.openxmlformats.org/drawingml/2006/main">
            <a:pPr algn="l">
              <a:spcAft>
                <a:spcPts val="17"/>
              </a:spcAft>
              <a:buNone/>
              <a:defRPr sz="12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Tavily</a:t>
            </a:r>
            <a:r>
              <a:rPr sz="16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 primary · Exa cross-check · GitHub discovery · GLEIF / </a:t>
            </a:r>
            <a:r>
              <a:rPr sz="16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ClinicalTrials</a:t>
            </a:r>
            <a:r>
              <a:rPr sz="16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 / NIH / </a:t>
            </a:r>
            <a:r>
              <a:rPr sz="16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USAspending</a:t>
            </a:r>
          </a:p>
          <a:p xmlns:a="http://schemas.openxmlformats.org/drawingml/2006/main">
            <a:pPr algn="l">
              <a:spcAft>
                <a:spcPts val="6"/>
              </a:spcAft>
              <a:buNone/>
              <a:defRPr sz="12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45D4C2"/>
                </a:solidFill>
                <a:latin typeface="Consolas"/>
                <a:ea typeface="Consolas"/>
                <a:cs typeface="Consolas"/>
              </a:rPr>
              <a:t>04  NORMALIZE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AEB6B0"/>
                </a:solidFill>
                <a:latin typeface="Arial"/>
                <a:ea typeface="Arial"/>
                <a:cs typeface="Arial"/>
              </a:rPr>
              <a:t>Canonical URL · provider · source role · capture · review · entity match · independence group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F01713EA-C0A1-4D6B-96DB-6BB36072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66850"/>
            <a:ext cx="3562350" cy="36576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261F33"/>
          </a:solidFill>
          <a:ln xmlns:a="http://schemas.openxmlformats.org/drawingml/2006/main" w="13335">
            <a:solidFill>
              <a:srgbClr val="A78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311CEA2A-8ACD-42E4-A8F7-482AF783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62125"/>
            <a:ext cx="2962275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"/>
              </a:spcAft>
              <a:buNone/>
              <a:defRPr sz="12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05  SCORE</a:t>
            </a:r>
          </a:p>
          <a:p xmlns:a="http://schemas.openxmlformats.org/drawingml/2006/main">
            <a:pPr algn="l">
              <a:spcAft>
                <a:spcPts val="17"/>
              </a:spcAft>
              <a:buNone/>
              <a:defRPr sz="12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16 criteria → five dimensions · coverage · confidence · contradictions · explicit uncertainty</a:t>
            </a:r>
          </a:p>
          <a:p xmlns:a="http://schemas.openxmlformats.org/drawingml/2006/main">
            <a:pPr algn="l">
              <a:spcAft>
                <a:spcPts val="6"/>
              </a:spcAft>
              <a:buNone/>
              <a:defRPr sz="12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06  ACT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AEB6B0"/>
                </a:solidFill>
                <a:latin typeface="Arial"/>
                <a:ea typeface="Arial"/>
                <a:cs typeface="Arial"/>
              </a:rPr>
              <a:t>Queue → policy gates → named, non-binding check → editable sourced outreach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A8044845-3581-4983-8B14-ECE3C92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15000"/>
            <a:ext cx="33813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5D4C2"/>
                </a:solidFill>
                <a:latin typeface="Consolas"/>
                <a:ea typeface="Consolas"/>
                <a:cs typeface="Consolas"/>
              </a:defRPr>
            </a:pPr>
            <a:r>
              <a:rPr sz="2000" b="1" i="0">
                <a:solidFill>
                  <a:srgbClr val="45D4C2"/>
                </a:solidFill>
                <a:latin typeface="Consolas"/>
                <a:ea typeface="Consolas"/>
                <a:cs typeface="Consolas"/>
              </a:rPr>
              <a:t>PUBLIC + TRACEABLE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98EB1E10-3C8E-4693-BCFB-0AEAAFC5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715000"/>
            <a:ext cx="33813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9FF63"/>
                </a:solidFill>
                <a:latin typeface="Consolas"/>
                <a:ea typeface="Consolas"/>
                <a:cs typeface="Consolas"/>
              </a:defRPr>
            </a:pPr>
            <a:r>
              <a:rPr sz="2000" b="1" i="0">
                <a:solidFill>
                  <a:srgbClr val="D9FF63"/>
                </a:solidFill>
                <a:latin typeface="Consolas"/>
                <a:ea typeface="Consolas"/>
                <a:cs typeface="Consolas"/>
              </a:rPr>
              <a:t>PRIVATE + CONSENTED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D4611E57-70FC-4195-B80C-5BE7A377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715001"/>
            <a:ext cx="38766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78BFA"/>
                </a:solidFill>
                <a:latin typeface="Consolas"/>
                <a:ea typeface="Consolas"/>
                <a:cs typeface="Consolas"/>
              </a:defRPr>
            </a:pPr>
            <a:r>
              <a:rPr sz="2000" b="1" i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DETERMINISTIC + HUMAN-GATED</a:t>
            </a:r>
          </a:p>
        </p:txBody>
      </p:sp>
    </p:spTree>
    <p:extLst>
      <p:ext uri="{BB962C8B-B14F-4D97-AF65-F5344CB8AC3E}">
        <p14:creationId xmlns:p14="http://schemas.microsoft.com/office/powerpoint/2010/main" val="574638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F342817-E6D1-4985-80F7-8A8F9550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62350" cy="2981325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1B2A23"/>
          </a:solidFill>
          <a:ln xmlns:a="http://schemas.openxmlformats.org/drawingml/2006/main" w="13335">
            <a:solidFill>
              <a:srgbClr val="D9FF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3FB22F2-A506-4748-A02F-812BB737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19425"/>
            <a:ext cx="3562350" cy="2981325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182536"/>
          </a:solidFill>
          <a:ln xmlns:a="http://schemas.openxmlformats.org/drawingml/2006/main" w="13335">
            <a:solidFill>
              <a:srgbClr val="45D4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1C4982C-9EC7-490D-98F0-DECB34A3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19425"/>
            <a:ext cx="3562350" cy="2981325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61F33"/>
          </a:solidFill>
          <a:ln xmlns:a="http://schemas.openxmlformats.org/drawingml/2006/main" w="13335">
            <a:solidFill>
              <a:srgbClr val="A78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6DFD114-FE22-450A-8E7C-27AA5EC2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343650"/>
            <a:ext cx="38957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7B75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F7B75"/>
                </a:solidFill>
                <a:latin typeface="Consolas"/>
                <a:ea typeface="Consolas"/>
                <a:cs typeface="Consolas"/>
              </a:rPr>
              <a:t>DETERMINISTIC SCORE  /  0</a:t>
            </a:r>
            <a:r>
              <a:rPr sz="900" b="0" i="0">
                <a:solidFill>
                  <a:srgbClr val="6F7B75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CA2340E-0183-4C62-9ED7-2CD3EC2F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6F3EA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6F3EA"/>
                </a:solidFill>
                <a:latin typeface="Georgia"/>
                <a:ea typeface="Georgia"/>
                <a:cs typeface="Georgia"/>
              </a:rPr>
              <a:t>AI finds signals and evidence. Fixed code owns the score.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EC9803B-B14C-4B73-82AE-64F250D4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9"/>
              </a:spcAft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D9FF63"/>
                </a:solidFill>
                <a:latin typeface="Consolas"/>
                <a:ea typeface="Consolas"/>
                <a:cs typeface="Consolas"/>
              </a:rPr>
              <a:t>SUBSTANTIVE CRITERIA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Cited support · opposing evidence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22EC598-7BAC-4FA9-8BF8-3681F885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1485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9"/>
              </a:spcAft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VISIBLE UNCERTAINTY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Coverage · confidence · contradictions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B3BEB0B2-EB54-448F-94B2-32326D8F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1485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9"/>
              </a:spcAft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45D4C2"/>
                </a:solidFill>
                <a:latin typeface="Consolas"/>
                <a:ea typeface="Consolas"/>
                <a:cs typeface="Consolas"/>
              </a:rPr>
              <a:t>WEIGHTED DIMENSIONS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Fixed, versioned rubric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5BC4768-C44C-4821-9474-BA49F1E4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D9FF63"/>
                </a:solidFill>
                <a:latin typeface="Consolas"/>
                <a:ea typeface="Consolas"/>
                <a:cs typeface="Consolas"/>
              </a:defRPr>
            </a:pPr>
            <a:r>
              <a:rPr sz="5100" b="1" i="0">
                <a:solidFill>
                  <a:srgbClr val="D9FF63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E22A60E-02D5-4BA5-BF6C-8CF8FD4A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45D4C2"/>
                </a:solidFill>
                <a:latin typeface="Consolas"/>
                <a:ea typeface="Consolas"/>
                <a:cs typeface="Consolas"/>
              </a:defRPr>
            </a:pPr>
            <a:r>
              <a:rPr sz="5100" b="1" i="0">
                <a:solidFill>
                  <a:srgbClr val="45D4C2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DA9047B-6F17-4B90-A0F4-4991B640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A78BFA"/>
                </a:solidFill>
                <a:latin typeface="Consolas"/>
                <a:ea typeface="Consolas"/>
                <a:cs typeface="Consolas"/>
              </a:defRPr>
            </a:pPr>
            <a:r>
              <a:rPr sz="4125" b="1" i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±8–40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7076965-DB41-42F0-B137-32068F32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4109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9"/>
              </a:spcAft>
              <a:buNone/>
              <a:defRPr sz="1275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D9FF63"/>
                </a:solidFill>
                <a:latin typeface="Consolas"/>
                <a:ea typeface="Consolas"/>
                <a:cs typeface="Consolas"/>
              </a:rPr>
              <a:t>FOUNDER 18  ·  MARKET 25  ·  PRODUCT 23  ·  EVIDENCE 14  ·  REVENUE 20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1600" b="0" i="0">
                <a:solidFill>
                  <a:srgbClr val="AEB6B0"/>
                </a:solidFill>
                <a:latin typeface="Arial"/>
                <a:ea typeface="Arial"/>
                <a:cs typeface="Arial"/>
              </a:rPr>
              <a:t>Missing evidence lowers coverage and raises uncertainty—it never becomes a negative founder judgment.</a:t>
            </a:r>
          </a:p>
        </p:txBody>
      </p:sp>
    </p:spTree>
    <p:extLst>
      <p:ext uri="{BB962C8B-B14F-4D97-AF65-F5344CB8AC3E}">
        <p14:creationId xmlns:p14="http://schemas.microsoft.com/office/powerpoint/2010/main" val="1803579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F342817-E6D1-4985-80F7-8A8F9550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62350" cy="2981325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1B2A23"/>
          </a:solidFill>
          <a:ln xmlns:a="http://schemas.openxmlformats.org/drawingml/2006/main" w="13335">
            <a:solidFill>
              <a:srgbClr val="D9FF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3FB22F2-A506-4748-A02F-812BB737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19425"/>
            <a:ext cx="3562350" cy="2981325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182536"/>
          </a:solidFill>
          <a:ln xmlns:a="http://schemas.openxmlformats.org/drawingml/2006/main" w="13335">
            <a:solidFill>
              <a:srgbClr val="45D4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1C4982C-9EC7-490D-98F0-DECB34A3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19425"/>
            <a:ext cx="3562350" cy="2981325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A2519"/>
          </a:solidFill>
          <a:ln xmlns:a="http://schemas.openxmlformats.org/drawingml/2006/main" w="13335">
            <a:solidFill>
              <a:srgbClr val="FFC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6DFD114-FE22-450A-8E7C-27AA5EC2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343650"/>
            <a:ext cx="38957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7B75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F7B75"/>
                </a:solidFill>
                <a:latin typeface="Consolas"/>
                <a:ea typeface="Consolas"/>
                <a:cs typeface="Consolas"/>
              </a:rPr>
              <a:t>*NON-BINDING; NO FUNDS RESERVED OR TRANSFER AUTHORIZED  /  0</a:t>
            </a:r>
            <a:r>
              <a:rPr sz="900">
                <a:solidFill>
                  <a:srgbClr val="6F7B75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CA2340E-0183-4C62-9ED7-2CD3EC2F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6F3EA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F6F3EA"/>
                </a:solidFill>
                <a:latin typeface="Georgia"/>
                <a:ea typeface="Georgia"/>
                <a:cs typeface="Georgia"/>
              </a:rPr>
              <a:t>Live trends feed an inspectable end-to-end proof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EC9803B-B14C-4B73-82AE-64F250D4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952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9"/>
              </a:spcAft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D9FF63"/>
                </a:solidFill>
                <a:latin typeface="Consolas"/>
                <a:ea typeface="Consolas"/>
                <a:cs typeface="Consolas"/>
              </a:rPr>
              <a:t>OPPORTUNITY SCORE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Five visible dimensions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22EC598-7BAC-4FA9-8BF8-3681F885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14850"/>
            <a:ext cx="2952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9"/>
              </a:spcAft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FFC857"/>
                </a:solidFill>
                <a:latin typeface="Consolas"/>
                <a:ea typeface="Consolas"/>
                <a:cs typeface="Consolas"/>
              </a:rPr>
              <a:t>POLICY-GATED CHECK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Named human approval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B3BEB0B2-EB54-448F-94B2-32326D8F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14850"/>
            <a:ext cx="2952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9"/>
              </a:spcAft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45D4C2"/>
                </a:solidFill>
                <a:latin typeface="Consolas"/>
                <a:ea typeface="Consolas"/>
                <a:cs typeface="Consolas"/>
              </a:rPr>
              <a:t>WEIGHTED COVERAGE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F6F3EA"/>
                </a:solidFill>
                <a:latin typeface="Arial"/>
                <a:ea typeface="Arial"/>
                <a:cs typeface="Arial"/>
              </a:rPr>
              <a:t>±18 uncertainty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5BC4768-C44C-4821-9474-BA49F1E4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D9FF63"/>
                </a:solidFill>
                <a:latin typeface="Consolas"/>
                <a:ea typeface="Consolas"/>
                <a:cs typeface="Consolas"/>
              </a:defRPr>
            </a:pPr>
            <a:r>
              <a:rPr sz="4650" b="1" i="0">
                <a:solidFill>
                  <a:srgbClr val="D9FF63"/>
                </a:solidFill>
                <a:latin typeface="Consolas"/>
                <a:ea typeface="Consolas"/>
                <a:cs typeface="Consolas"/>
              </a:rPr>
              <a:t>62.1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E22A60E-02D5-4BA5-BF6C-8CF8FD4A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45D4C2"/>
                </a:solidFill>
                <a:latin typeface="Consolas"/>
                <a:ea typeface="Consolas"/>
                <a:cs typeface="Consolas"/>
              </a:defRPr>
            </a:pPr>
            <a:r>
              <a:rPr sz="4350" b="1" i="0">
                <a:solidFill>
                  <a:srgbClr val="45D4C2"/>
                </a:solidFill>
                <a:latin typeface="Consolas"/>
                <a:ea typeface="Consolas"/>
                <a:cs typeface="Consolas"/>
              </a:rPr>
              <a:t>85.1%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DA9047B-6F17-4B90-A0F4-4991B640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C857"/>
                </a:solidFill>
                <a:latin typeface="Consolas"/>
                <a:ea typeface="Consolas"/>
                <a:cs typeface="Consolas"/>
              </a:defRPr>
            </a:pPr>
            <a:r>
              <a:rPr sz="4275" b="1" i="0">
                <a:solidFill>
                  <a:srgbClr val="FFC857"/>
                </a:solidFill>
                <a:latin typeface="Consolas"/>
                <a:ea typeface="Consolas"/>
                <a:cs typeface="Consolas"/>
              </a:rPr>
              <a:t>$100K*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7076965-DB41-42F0-B137-32068F32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1676784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275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D9FF63"/>
                </a:solidFill>
                <a:latin typeface="Consolas"/>
                <a:ea typeface="Consolas"/>
                <a:cs typeface="Consolas"/>
              </a:rPr>
              <a:t>9 RECORDS · 8 UNIQUE URLS · 15/16 CRITERIA · 6 PUBLIC CONTACTS · </a:t>
            </a:r>
            <a:r>
              <a:rPr sz="2000" b="1" i="0">
                <a:solidFill>
                  <a:srgbClr val="D9FF63"/>
                </a:solidFill>
                <a:latin typeface="Consolas"/>
                <a:ea typeface="Consolas"/>
                <a:cs typeface="Consolas"/>
              </a:rPr>
              <a:t>222 PASSING TESTS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000" b="0" i="0">
                <a:solidFill>
                  <a:srgbClr val="AEB6B0"/>
                </a:solidFill>
                <a:latin typeface="Arial"/>
                <a:ea typeface="Arial"/>
                <a:cs typeface="Arial"/>
              </a:rPr>
              <a:t>LIVE 20 JUL 2026 · proofline-s1cj.onrender.com · Internet Trends first · every result opens to evidence</a:t>
            </a:r>
          </a:p>
        </p:txBody>
      </p:sp>
    </p:spTree>
    <p:extLst>
      <p:ext uri="{BB962C8B-B14F-4D97-AF65-F5344CB8AC3E}">
        <p14:creationId xmlns:p14="http://schemas.microsoft.com/office/powerpoint/2010/main" val="18035790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2026-07-20T15:25:51.9410000Z</dcterms:created>
  <dcterms:modified xsi:type="dcterms:W3CDTF">2026-07-20T15:25:51.9410000Z</dcterms:modified>
</coreProperties>
</file>